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82880" cy="3474720"/>
          </a:xfrm>
          <a:prstGeom prst="round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0F5FA"/>
                </a:solidFill>
              </a:defRPr>
            </a:pPr>
            <a:r>
              <a:t>VINBUS / VINFAST BLINDSPOT BEV &amp; TTC SYSTEM</a:t>
            </a:r>
          </a:p>
          <a:p>
            <a:pPr>
              <a:spcBef>
                <a:spcPts val="1400"/>
              </a:spcBef>
              <a:defRPr sz="1800">
                <a:solidFill>
                  <a:srgbClr val="00E682"/>
                </a:solidFill>
              </a:defRPr>
            </a:pPr>
            <a:r>
              <a:t>Hệ Thống Mô Phỏng Cảnh Báo Điểm Mù, Hợp Nhất Camera + IMU &amp; Phanh Tự Động AEB Khép Kín</a:t>
            </a:r>
          </a:p>
          <a:p>
            <a:pPr>
              <a:spcBef>
                <a:spcPts val="2400"/>
              </a:spcBef>
              <a:defRPr sz="1400">
                <a:solidFill>
                  <a:srgbClr val="91A0AF"/>
                </a:solidFill>
              </a:defRPr>
            </a:pPr>
            <a:r>
              <a:t>Track 4 Capstone · AI20k · Thiết Kế Tối Ưu Cho Đội Xe Điện Đô Thị Việt Nam (60 FPS CPU)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937760"/>
            <a:ext cx="3474720" cy="1371600"/>
          </a:xfrm>
          <a:prstGeom prst="roundRect">
            <a:avLst/>
          </a:prstGeom>
          <a:solidFill>
            <a:srgbClr val="16202C"/>
          </a:solidFill>
          <a:ln>
            <a:solidFill>
              <a:srgbClr val="2D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98348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C8FF"/>
                </a:solidFill>
              </a:defRPr>
            </a:pPr>
            <a:r>
              <a:t>CÔNG NGHỆ ĐỘT PHÁ</a:t>
            </a:r>
          </a:p>
          <a:p>
            <a:pPr>
              <a:spcBef>
                <a:spcPts val="400"/>
              </a:spcBef>
              <a:defRPr sz="1000">
                <a:solidFill>
                  <a:srgbClr val="91A0AF"/>
                </a:solidFill>
              </a:defRPr>
            </a:pPr>
            <a:r>
              <a:t>Hợp nhất Camera + IMU bù góc chúi động qua ổ gà, giảm 80% sai số RMSE.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4937760"/>
            <a:ext cx="3474720" cy="1371600"/>
          </a:xfrm>
          <a:prstGeom prst="roundRect">
            <a:avLst/>
          </a:prstGeom>
          <a:solidFill>
            <a:srgbClr val="16202C"/>
          </a:solidFill>
          <a:ln>
            <a:solidFill>
              <a:srgbClr val="2D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498348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E682"/>
                </a:solidFill>
              </a:defRPr>
            </a:pPr>
            <a:r>
              <a:t>VÒNG LẶP ĐÓNG (AEB)</a:t>
            </a:r>
          </a:p>
          <a:p>
            <a:pPr>
              <a:spcBef>
                <a:spcPts val="400"/>
              </a:spcBef>
              <a:defRPr sz="1000">
                <a:solidFill>
                  <a:srgbClr val="91A0AF"/>
                </a:solidFill>
              </a:defRPr>
            </a:pPr>
            <a:r>
              <a:t>Dự báo quỹ đạo Kalman 2.0s, tính TTC và kích hoạt phanh dừng an toàn.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4937760"/>
            <a:ext cx="3474720" cy="1371600"/>
          </a:xfrm>
          <a:prstGeom prst="roundRect">
            <a:avLst/>
          </a:prstGeom>
          <a:solidFill>
            <a:srgbClr val="16202C"/>
          </a:solidFill>
          <a:ln>
            <a:solidFill>
              <a:srgbClr val="2D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498348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9628"/>
                </a:solidFill>
              </a:defRPr>
            </a:pPr>
            <a:r>
              <a:t>HIỆU QUẢ KINH TẾ</a:t>
            </a:r>
          </a:p>
          <a:p>
            <a:pPr>
              <a:spcBef>
                <a:spcPts val="400"/>
              </a:spcBef>
              <a:defRPr sz="1000">
                <a:solidFill>
                  <a:srgbClr val="91A0AF"/>
                </a:solidFill>
              </a:defRPr>
            </a:pPr>
            <a:r>
              <a:t>Tiết kiệm $450k – $900k chi phí LiDAR cho 300 xe VinBus nhờ cảm biến sẵn có.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C8FF"/>
                </a:solidFill>
              </a:defRPr>
            </a:pPr>
            <a:r>
              <a:t>VIN PERCEPTION HACKATHON · TRACK 4 CAPSTONE</a:t>
            </a:r>
          </a:p>
          <a:p>
            <a:pPr>
              <a:defRPr sz="2400" b="1">
                <a:solidFill>
                  <a:srgbClr val="F0F5FA"/>
                </a:solidFill>
              </a:defRPr>
            </a:pPr>
            <a:r>
              <a:t>Bối Cảnh Thực Tế &amp; Bài Toán Của Đội Xe VinBus / VinFast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6202C"/>
          </a:solidFill>
          <a:ln>
            <a:solidFill>
              <a:srgbClr val="2D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4B4B"/>
                </a:solidFill>
              </a:defRPr>
            </a:pPr>
            <a:r>
              <a:t>🔴 NỖI ĐAU THỰC TẾ TRONG ĐÔ THỊ</a:t>
            </a:r>
          </a:p>
          <a:p>
            <a:pPr>
              <a:spcBef>
                <a:spcPts val="1000"/>
              </a:spcBef>
              <a:defRPr sz="1100">
                <a:solidFill>
                  <a:srgbClr val="F0F5FA"/>
                </a:solidFill>
              </a:defRPr>
            </a:pPr>
            <a:r>
              <a:t>• Điểm mù xe buýt lớn: Xe máy thường xuyên tạt đầu từ góc khuất bên phải khi xe buýt cập trạm.</a:t>
            </a:r>
          </a:p>
          <a:p>
            <a:pPr>
              <a:spcBef>
                <a:spcPts val="1000"/>
              </a:spcBef>
              <a:defRPr sz="1100">
                <a:solidFill>
                  <a:srgbClr val="F0F5FA"/>
                </a:solidFill>
              </a:defRPr>
            </a:pPr>
            <a:r>
              <a:t>• Mặt đường gồ ghề: Ổ gà, gờ giảm tốc khiến đầu xe chúi/nhấp nhô liên tục (+-5 deg), làm camera đơn sắc ước lượng khoảng cách nhảy loạn xạ (sai lệch 2 - 3.5m).</a:t>
            </a:r>
          </a:p>
          <a:p>
            <a:pPr>
              <a:spcBef>
                <a:spcPts val="1000"/>
              </a:spcBef>
              <a:defRPr sz="1100">
                <a:solidFill>
                  <a:srgbClr val="F0F5FA"/>
                </a:solidFill>
              </a:defRPr>
            </a:pPr>
            <a:r>
              <a:t>• Nguy cơ an toàn: Dẫn đến hiện tượng Phanh Giật Ảo (Phantom Braking) gây ngã hành khách hoặc không phanh kịp khi có người băng qua đường.</a:t>
            </a:r>
          </a:p>
          <a:p>
            <a:pPr>
              <a:spcBef>
                <a:spcPts val="1000"/>
              </a:spcBef>
              <a:defRPr sz="1100">
                <a:solidFill>
                  <a:srgbClr val="F0F5FA"/>
                </a:solidFill>
              </a:defRPr>
            </a:pPr>
            <a:r>
              <a:t>• Chi phí LiDAR quá cao: $1,500 - $3,000/xe -&gt; tiêu tốn $450,000 - $900,000 cho đội xe 300 chiếc VinBus!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6202C"/>
          </a:solidFill>
          <a:ln>
            <a:solidFill>
              <a:srgbClr val="2D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682"/>
                </a:solidFill>
              </a:defRPr>
            </a:pPr>
            <a:r>
              <a:t>🟢 GIẢI PHÁP ĐỘT PHÁ CỦA NHÓM</a:t>
            </a:r>
          </a:p>
          <a:p>
            <a:pPr>
              <a:spcBef>
                <a:spcPts val="800"/>
              </a:spcBef>
              <a:defRPr sz="1100">
                <a:solidFill>
                  <a:srgbClr val="F0F5FA"/>
                </a:solidFill>
              </a:defRPr>
            </a:pPr>
            <a:r>
              <a:t>• Tận dụng cảm biến sẵn có: Chỉ dùng 1 Camera góc rộng + Cảm biến con quay hồi chuyển IMU tiêu chuẩn trên xe VinBus.</a:t>
            </a:r>
          </a:p>
          <a:p>
            <a:pPr>
              <a:spcBef>
                <a:spcPts val="800"/>
              </a:spcBef>
              <a:defRPr sz="1100">
                <a:solidFill>
                  <a:srgbClr val="F0F5FA"/>
                </a:solidFill>
              </a:defRPr>
            </a:pPr>
            <a:r>
              <a:t>• Hợp nhất Camera + IMU động: Bù trừ tức thời góc nghiêng đầu xe vào phương trình hình học Homography Z=0, giảm ngay 80% sai số.</a:t>
            </a:r>
          </a:p>
          <a:p>
            <a:pPr>
              <a:spcBef>
                <a:spcPts val="800"/>
              </a:spcBef>
              <a:defRPr sz="1100">
                <a:solidFill>
                  <a:srgbClr val="F0F5FA"/>
                </a:solidFill>
              </a:defRPr>
            </a:pPr>
            <a:r>
              <a:t>• Bộ lọc Kalman thích ứng: Mô hình hóa ma trận nhiễu R tỉ lệ thuận với bình phương khoảng cách R ~ X^2, vẽ elip bất định 95%.</a:t>
            </a:r>
          </a:p>
          <a:p>
            <a:pPr>
              <a:spcBef>
                <a:spcPts val="800"/>
              </a:spcBef>
              <a:defRPr sz="1100">
                <a:solidFill>
                  <a:srgbClr val="F0F5FA"/>
                </a:solidFill>
              </a:defRPr>
            </a:pPr>
            <a:r>
              <a:t>• Closed-Loop AEB: Tự động kích hoạt phanh khẩn cấp a = -6.5 m/s^2 khi TTC &lt; 2.1s, dừng xe an toàn cách vật cản &gt;2m.</a:t>
            </a:r>
          </a:p>
          <a:p>
            <a:pPr>
              <a:spcBef>
                <a:spcPts val="800"/>
              </a:spcBef>
              <a:defRPr sz="1100">
                <a:solidFill>
                  <a:srgbClr val="F0F5FA"/>
                </a:solidFill>
              </a:defRPr>
            </a:pPr>
            <a:r>
              <a:t>• Vận hành cực nhẹ: Chạy 60 FPS thuần NumPy + OpenCV trên CPU laptop văn phòng, không cần GPU rời!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C8FF"/>
                </a:solidFill>
              </a:defRPr>
            </a:pPr>
            <a:r>
              <a:t>VIN PERCEPTION HACKATHON · TRACK 4 CAPSTONE</a:t>
            </a:r>
          </a:p>
          <a:p>
            <a:pPr>
              <a:defRPr sz="2400" b="1">
                <a:solidFill>
                  <a:srgbClr val="F0F5FA"/>
                </a:solidFill>
              </a:defRPr>
            </a:pPr>
            <a:r>
              <a:t>Kiến Trúc Hệ Thống Mô Phỏng Khép Kín (Closed-Loop Pipeline)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16202C"/>
          </a:solidFill>
          <a:ln>
            <a:solidFill>
              <a:srgbClr val="2D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C8FF"/>
                </a:solidFill>
              </a:defRPr>
            </a:pPr>
            <a:r>
              <a:t>1. CẢM BIẾN &amp; MÔ PHỎNG</a:t>
            </a:r>
          </a:p>
          <a:p>
            <a:pPr>
              <a:spcBef>
                <a:spcPts val="200"/>
              </a:spcBef>
              <a:defRPr sz="1000">
                <a:solidFill>
                  <a:srgbClr val="91A0AF"/>
                </a:solidFill>
              </a:defRPr>
            </a:pPr>
            <a:r>
              <a:t>Day 11: Physics &amp; Pinhole</a:t>
            </a:r>
          </a:p>
          <a:p>
            <a:pPr>
              <a:spcBef>
                <a:spcPts val="800"/>
              </a:spcBef>
              <a:defRPr sz="1000">
                <a:solidFill>
                  <a:srgbClr val="F0F5FA"/>
                </a:solidFill>
              </a:defRPr>
            </a:pPr>
            <a:r>
              <a:t>• VinBus 3D Kinematics (v = 8 m/s)</a:t>
            </a:r>
          </a:p>
          <a:p>
            <a:pPr>
              <a:spcBef>
                <a:spcPts val="800"/>
              </a:spcBef>
              <a:defRPr sz="1000">
                <a:solidFill>
                  <a:srgbClr val="F0F5FA"/>
                </a:solidFill>
              </a:defRPr>
            </a:pPr>
            <a:r>
              <a:t>• Lò xo giảm chấn góc Pitch: dtheta(t)</a:t>
            </a:r>
          </a:p>
          <a:p>
            <a:pPr>
              <a:spcBef>
                <a:spcPts val="800"/>
              </a:spcBef>
              <a:defRPr sz="1000">
                <a:solidFill>
                  <a:srgbClr val="F0F5FA"/>
                </a:solidFill>
              </a:defRPr>
            </a:pPr>
            <a:r>
              <a:t>• Pinhole RGB Camera 640x420 K[R|t]</a:t>
            </a:r>
          </a:p>
          <a:p>
            <a:pPr>
              <a:spcBef>
                <a:spcPts val="800"/>
              </a:spcBef>
              <a:defRPr sz="1000">
                <a:solidFill>
                  <a:srgbClr val="F0F5FA"/>
                </a:solidFill>
              </a:defRPr>
            </a:pPr>
            <a:r>
              <a:t>• 2D Detector trích xuất đáy (u_bc, v_bc)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63040"/>
            <a:ext cx="2560320" cy="4754880"/>
          </a:xfrm>
          <a:prstGeom prst="roundRect">
            <a:avLst/>
          </a:prstGeom>
          <a:solidFill>
            <a:srgbClr val="16202C"/>
          </a:solidFill>
          <a:ln>
            <a:solidFill>
              <a:srgbClr val="2D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682"/>
                </a:solidFill>
              </a:defRPr>
            </a:pPr>
            <a:r>
              <a:t>2. BEV &amp; HỢP NHẤT IMU</a:t>
            </a:r>
          </a:p>
          <a:p>
            <a:pPr>
              <a:spcBef>
                <a:spcPts val="200"/>
              </a:spcBef>
              <a:defRPr sz="1000">
                <a:solidFill>
                  <a:srgbClr val="91A0AF"/>
                </a:solidFill>
              </a:defRPr>
            </a:pPr>
            <a:r>
              <a:t>Day 4 &amp; 8: IPM &amp; Fusion</a:t>
            </a:r>
          </a:p>
          <a:p>
            <a:pPr>
              <a:spcBef>
                <a:spcPts val="800"/>
              </a:spcBef>
              <a:defRPr sz="1000">
                <a:solidFill>
                  <a:srgbClr val="F0F5FA"/>
                </a:solidFill>
              </a:defRPr>
            </a:pPr>
            <a:r>
              <a:t>• Chiếu ngược mặt phẳng Z = 0</a:t>
            </a:r>
          </a:p>
          <a:p>
            <a:pPr>
              <a:spcBef>
                <a:spcPts val="800"/>
              </a:spcBef>
              <a:defRPr sz="1000">
                <a:solidFill>
                  <a:srgbClr val="F0F5FA"/>
                </a:solidFill>
              </a:defRPr>
            </a:pPr>
            <a:r>
              <a:t>• Bù góc chúc động: theta = theta_0 + IMU</a:t>
            </a:r>
          </a:p>
          <a:p>
            <a:pPr>
              <a:spcBef>
                <a:spcPts val="800"/>
              </a:spcBef>
              <a:defRPr sz="1000">
                <a:solidFill>
                  <a:srgbClr val="F0F5FA"/>
                </a:solidFill>
              </a:defRPr>
            </a:pPr>
            <a:r>
              <a:t>• Tính tọa độ thực (X_bev, Y_bev) mét</a:t>
            </a:r>
          </a:p>
          <a:p>
            <a:pPr>
              <a:spcBef>
                <a:spcPts val="800"/>
              </a:spcBef>
              <a:defRPr sz="1000">
                <a:solidFill>
                  <a:srgbClr val="F0F5FA"/>
                </a:solidFill>
              </a:defRPr>
            </a:pPr>
            <a:r>
              <a:t>• Triệt tiêu nảy tọa độ khi xe qua ổ gà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2560320" cy="4754880"/>
          </a:xfrm>
          <a:prstGeom prst="roundRect">
            <a:avLst/>
          </a:prstGeom>
          <a:solidFill>
            <a:srgbClr val="16202C"/>
          </a:solidFill>
          <a:ln>
            <a:solidFill>
              <a:srgbClr val="2D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9628"/>
                </a:solidFill>
              </a:defRPr>
            </a:pPr>
            <a:r>
              <a:t>3. KALMAN &amp; DỰ BÁO TTC</a:t>
            </a:r>
          </a:p>
          <a:p>
            <a:pPr>
              <a:spcBef>
                <a:spcPts val="200"/>
              </a:spcBef>
              <a:defRPr sz="1000">
                <a:solidFill>
                  <a:srgbClr val="91A0AF"/>
                </a:solidFill>
              </a:defRPr>
            </a:pPr>
            <a:r>
              <a:t>Day 5 &amp; 7: Tracking &amp; Forecast</a:t>
            </a:r>
          </a:p>
          <a:p>
            <a:pPr>
              <a:spcBef>
                <a:spcPts val="800"/>
              </a:spcBef>
              <a:defRPr sz="1000">
                <a:solidFill>
                  <a:srgbClr val="F0F5FA"/>
                </a:solidFill>
              </a:defRPr>
            </a:pPr>
            <a:r>
              <a:t>• Linear Kalman Filter 4D: [X, Y, Vx, Vy]^T</a:t>
            </a:r>
          </a:p>
          <a:p>
            <a:pPr>
              <a:spcBef>
                <a:spcPts val="800"/>
              </a:spcBef>
              <a:defRPr sz="1000">
                <a:solidFill>
                  <a:srgbClr val="F0F5FA"/>
                </a:solidFill>
              </a:defRPr>
            </a:pPr>
            <a:r>
              <a:t>• Nhiễu đo thích ứng R(X) ~ X^2</a:t>
            </a:r>
          </a:p>
          <a:p>
            <a:pPr>
              <a:spcBef>
                <a:spcPts val="800"/>
              </a:spcBef>
              <a:defRPr sz="1000">
                <a:solidFill>
                  <a:srgbClr val="F0F5FA"/>
                </a:solidFill>
              </a:defRPr>
            </a:pPr>
            <a:r>
              <a:t>• Vòng elip bất định 95% (chi^2 = 5.991)</a:t>
            </a:r>
          </a:p>
          <a:p>
            <a:pPr>
              <a:spcBef>
                <a:spcPts val="800"/>
              </a:spcBef>
              <a:defRPr sz="1000">
                <a:solidFill>
                  <a:srgbClr val="F0F5FA"/>
                </a:solidFill>
              </a:defRPr>
            </a:pPr>
            <a:r>
              <a:t>• Dự báo 2.0s &amp; Tính Time-To-Collision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463040"/>
            <a:ext cx="2560320" cy="4754880"/>
          </a:xfrm>
          <a:prstGeom prst="roundRect">
            <a:avLst/>
          </a:prstGeom>
          <a:solidFill>
            <a:srgbClr val="16202C"/>
          </a:solidFill>
          <a:ln>
            <a:solidFill>
              <a:srgbClr val="2D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64592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4B4B"/>
                </a:solidFill>
              </a:defRPr>
            </a:pPr>
            <a:r>
              <a:t>4. ĐIỀU KHIỂN AEB &amp; DATA</a:t>
            </a:r>
          </a:p>
          <a:p>
            <a:pPr>
              <a:spcBef>
                <a:spcPts val="200"/>
              </a:spcBef>
              <a:defRPr sz="1000">
                <a:solidFill>
                  <a:srgbClr val="91A0AF"/>
                </a:solidFill>
              </a:defRPr>
            </a:pPr>
            <a:r>
              <a:t>Day 12: Closed-Loop &amp; Replay</a:t>
            </a:r>
          </a:p>
          <a:p>
            <a:pPr>
              <a:spcBef>
                <a:spcPts val="800"/>
              </a:spcBef>
              <a:defRPr sz="1000">
                <a:solidFill>
                  <a:srgbClr val="F0F5FA"/>
                </a:solidFill>
              </a:defRPr>
            </a:pPr>
            <a:r>
              <a:t>• Hành lang va chạm thân xe: |Y| &lt;= 1.75m</a:t>
            </a:r>
          </a:p>
          <a:p>
            <a:pPr>
              <a:spcBef>
                <a:spcPts val="800"/>
              </a:spcBef>
              <a:defRPr sz="1000">
                <a:solidFill>
                  <a:srgbClr val="F0F5FA"/>
                </a:solidFill>
              </a:defRPr>
            </a:pPr>
            <a:r>
              <a:t>• Quyết định phanh: TTC &lt; 2.1s</a:t>
            </a:r>
          </a:p>
          <a:p>
            <a:pPr>
              <a:spcBef>
                <a:spcPts val="800"/>
              </a:spcBef>
              <a:defRPr sz="1000">
                <a:solidFill>
                  <a:srgbClr val="F0F5FA"/>
                </a:solidFill>
              </a:defRPr>
            </a:pPr>
            <a:r>
              <a:t>• Phanh AEB khẩn cấp: a = -6.5 m/s^2</a:t>
            </a:r>
          </a:p>
          <a:p>
            <a:pPr>
              <a:spcBef>
                <a:spcPts val="800"/>
              </a:spcBef>
              <a:defRPr sz="1000">
                <a:solidFill>
                  <a:srgbClr val="F0F5FA"/>
                </a:solidFill>
              </a:defRPr>
            </a:pPr>
            <a:r>
              <a:t>• Ghi log CSV &amp; Replay Engine đánh giá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C8FF"/>
                </a:solidFill>
              </a:defRPr>
            </a:pPr>
            <a:r>
              <a:t>VIN PERCEPTION HACKATHON · TRACK 4 CAPSTONE</a:t>
            </a:r>
          </a:p>
          <a:p>
            <a:pPr>
              <a:defRPr sz="2400" b="1">
                <a:solidFill>
                  <a:srgbClr val="F0F5FA"/>
                </a:solidFill>
              </a:defRPr>
            </a:pPr>
            <a:r>
              <a:t>Cơ Sở Lý Thuyết 1: Chiếu Ngược BEV &amp; Hợp Nhất Camera + IMU (Day 4 &amp; 8)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6202C"/>
          </a:solidFill>
          <a:ln>
            <a:solidFill>
              <a:srgbClr val="2D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C8FF"/>
                </a:solidFill>
              </a:defRPr>
            </a:pPr>
            <a:r>
              <a:t>📐 HÌNH HỌC PINHOLE &amp; PHÉP CHIẾU BEV</a:t>
            </a:r>
          </a:p>
          <a:p>
            <a:pPr>
              <a:spcBef>
                <a:spcPts val="800"/>
              </a:spcBef>
              <a:defRPr sz="1100" b="1">
                <a:solidFill>
                  <a:srgbClr val="F0F5FA"/>
                </a:solidFill>
              </a:defRPr>
            </a:pPr>
            <a:r>
              <a:t>Tia quang học chuẩn hóa:</a:t>
            </a:r>
          </a:p>
          <a:p>
            <a:pPr>
              <a:defRPr sz="1000">
                <a:solidFill>
                  <a:srgbClr val="00E682"/>
                </a:solidFill>
              </a:defRPr>
            </a:pPr>
            <a:r>
              <a:t>x_n = (u - c_x) / f_x,   y_n = (v - c_y) / f_y</a:t>
            </a:r>
          </a:p>
          <a:p>
            <a:pPr>
              <a:spcBef>
                <a:spcPts val="800"/>
              </a:spcBef>
              <a:defRPr sz="1100" b="1">
                <a:solidFill>
                  <a:srgbClr val="F0F5FA"/>
                </a:solidFill>
              </a:defRPr>
            </a:pPr>
            <a:r>
              <a:t>Giả định mặt đất phẳng:</a:t>
            </a:r>
          </a:p>
          <a:p>
            <a:pPr>
              <a:defRPr sz="1000">
                <a:solidFill>
                  <a:srgbClr val="00E682"/>
                </a:solidFill>
              </a:defRPr>
            </a:pPr>
            <a:r>
              <a:t>Điểm đáy Bounding Box tiếp xúc mặt đường tại Z_ego = 0.</a:t>
            </a:r>
          </a:p>
          <a:p>
            <a:pPr>
              <a:spcBef>
                <a:spcPts val="800"/>
              </a:spcBef>
              <a:defRPr sz="1100" b="1">
                <a:solidFill>
                  <a:srgbClr val="F0F5FA"/>
                </a:solidFill>
              </a:defRPr>
            </a:pPr>
            <a:r>
              <a:t>Phương trình khoảng cách dọc X_BEV:</a:t>
            </a:r>
          </a:p>
          <a:p>
            <a:pPr>
              <a:defRPr sz="1000">
                <a:solidFill>
                  <a:srgbClr val="00E682"/>
                </a:solidFill>
              </a:defRPr>
            </a:pPr>
            <a:r>
              <a:t>X_BEV = H_cam * (cos(theta) - y_n * sin(theta)) / (sin(theta) + y_n * cos(theta))</a:t>
            </a:r>
          </a:p>
          <a:p>
            <a:pPr>
              <a:spcBef>
                <a:spcPts val="800"/>
              </a:spcBef>
              <a:defRPr sz="1100" b="1">
                <a:solidFill>
                  <a:srgbClr val="F0F5FA"/>
                </a:solidFill>
              </a:defRPr>
            </a:pPr>
            <a:r>
              <a:t>Phương trình khoảng cách ngang Y_BEV:</a:t>
            </a:r>
          </a:p>
          <a:p>
            <a:pPr>
              <a:defRPr sz="1000">
                <a:solidFill>
                  <a:srgbClr val="00E682"/>
                </a:solidFill>
              </a:defRPr>
            </a:pPr>
            <a:r>
              <a:t>Y_BEV = x_n * (X_BEV * cos(theta) + H_cam * sin(theta))</a:t>
            </a:r>
          </a:p>
          <a:p>
            <a:pPr>
              <a:spcBef>
                <a:spcPts val="800"/>
              </a:spcBef>
              <a:defRPr sz="1100" b="1">
                <a:solidFill>
                  <a:srgbClr val="F0F5FA"/>
                </a:solidFill>
              </a:defRPr>
            </a:pPr>
            <a:r>
              <a:t>Tham số lắp đặt VinBus:</a:t>
            </a:r>
          </a:p>
          <a:p>
            <a:pPr>
              <a:defRPr sz="1000">
                <a:solidFill>
                  <a:srgbClr val="00E682"/>
                </a:solidFill>
              </a:defRPr>
            </a:pPr>
            <a:r>
              <a:t>H_cam = 1.65m (độ cao gắn camera), theta_nominal = 10.0 deg (góc chúc ban đầu).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6202C"/>
          </a:solidFill>
          <a:ln>
            <a:solidFill>
              <a:srgbClr val="2D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9628"/>
                </a:solidFill>
              </a:defRPr>
            </a:pPr>
            <a:r>
              <a:t>⚡ ĐỘT PHÁ HỢP NHẤT CẢM BIẾN IMU</a:t>
            </a:r>
          </a:p>
          <a:p>
            <a:pPr>
              <a:spcBef>
                <a:spcPts val="800"/>
              </a:spcBef>
              <a:defRPr sz="1100" b="1">
                <a:solidFill>
                  <a:srgbClr val="F0F5FA"/>
                </a:solidFill>
              </a:defRPr>
            </a:pPr>
            <a:r>
              <a:t>Vấn đề khi xe qua ổ gà:</a:t>
            </a:r>
          </a:p>
          <a:p>
            <a:pPr>
              <a:defRPr sz="1000">
                <a:solidFill>
                  <a:srgbClr val="00C8FF"/>
                </a:solidFill>
              </a:defRPr>
            </a:pPr>
            <a:r>
              <a:t>Góc nhún của thân xe biến thiên dtheta(t) trong khoảng +-5.2 deg. Nếu dùng theta cố định, mẫu số bị lệch khiến X_BEV nhảy sai 2.0m - 3.5m!</a:t>
            </a:r>
          </a:p>
          <a:p>
            <a:pPr>
              <a:spcBef>
                <a:spcPts val="800"/>
              </a:spcBef>
              <a:defRPr sz="1100" b="1">
                <a:solidFill>
                  <a:srgbClr val="F0F5FA"/>
                </a:solidFill>
              </a:defRPr>
            </a:pPr>
            <a:r>
              <a:t>Giải pháp bù góc Pitch tức thời:</a:t>
            </a:r>
          </a:p>
          <a:p>
            <a:pPr>
              <a:defRPr sz="1000">
                <a:solidFill>
                  <a:srgbClr val="00C8FF"/>
                </a:solidFill>
              </a:defRPr>
            </a:pPr>
            <a:r>
              <a:t>theta(t) = theta_nominal + dtheta_IMU(t)</a:t>
            </a:r>
          </a:p>
          <a:p>
            <a:pPr>
              <a:spcBef>
                <a:spcPts val="800"/>
              </a:spcBef>
              <a:defRPr sz="1100" b="1">
                <a:solidFill>
                  <a:srgbClr val="F0F5FA"/>
                </a:solidFill>
              </a:defRPr>
            </a:pPr>
            <a:r>
              <a:t>Tần số cập nhật IMU:</a:t>
            </a:r>
          </a:p>
          <a:p>
            <a:pPr>
              <a:defRPr sz="1000">
                <a:solidFill>
                  <a:srgbClr val="00C8FF"/>
                </a:solidFill>
              </a:defRPr>
            </a:pPr>
            <a:r>
              <a:t>100 Hz cập nhật trực tiếp vào từng frame nhận thức, triệt tiêu rung lắc trước khi đưa vào bộ lọc Kalman.</a:t>
            </a:r>
          </a:p>
          <a:p>
            <a:pPr>
              <a:spcBef>
                <a:spcPts val="800"/>
              </a:spcBef>
              <a:defRPr sz="1100" b="1">
                <a:solidFill>
                  <a:srgbClr val="F0F5FA"/>
                </a:solidFill>
              </a:defRPr>
            </a:pPr>
            <a:r>
              <a:t>Kết quả thực nghiệm Kịch bản 2:</a:t>
            </a:r>
          </a:p>
          <a:p>
            <a:pPr>
              <a:defRPr sz="1000">
                <a:solidFill>
                  <a:srgbClr val="00C8FF"/>
                </a:solidFill>
              </a:defRPr>
            </a:pPr>
            <a:r>
              <a:t>Raw BEV (không IMU): RMSE = 1.41 m</a:t>
            </a:r>
            <a:br/>
            <a:r>
              <a:t>-&gt; IMU + Kalman: RMSE = 0.28 m (Cải thiện ~80% độ chính xác!)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C8FF"/>
                </a:solidFill>
              </a:defRPr>
            </a:pPr>
            <a:r>
              <a:t>VIN PERCEPTION HACKATHON · TRACK 4 CAPSTONE</a:t>
            </a:r>
          </a:p>
          <a:p>
            <a:pPr>
              <a:defRPr sz="2400" b="1">
                <a:solidFill>
                  <a:srgbClr val="F0F5FA"/>
                </a:solidFill>
              </a:defRPr>
            </a:pPr>
            <a:r>
              <a:t>Cơ Sở Lý Thuyết 2: Bộ Lọc Kalman 2D &amp; Vòng Elip Bất Định 95% (Day 5 &amp; 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6202C"/>
          </a:solidFill>
          <a:ln>
            <a:solidFill>
              <a:srgbClr val="2D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C8FF"/>
                </a:solidFill>
              </a:defRPr>
            </a:pPr>
            <a:r>
              <a:t>🎯 BỘ LỌC KALMAN TUYẾN TÍNH 4D</a:t>
            </a:r>
          </a:p>
          <a:p>
            <a:pPr>
              <a:spcBef>
                <a:spcPts val="800"/>
              </a:spcBef>
              <a:defRPr sz="1100" b="1">
                <a:solidFill>
                  <a:srgbClr val="F0F5FA"/>
                </a:solidFill>
              </a:defRPr>
            </a:pPr>
            <a:r>
              <a:t>Vector trạng thái:</a:t>
            </a:r>
          </a:p>
          <a:p>
            <a:pPr>
              <a:defRPr sz="1000">
                <a:solidFill>
                  <a:srgbClr val="00E682"/>
                </a:solidFill>
              </a:defRPr>
            </a:pPr>
            <a:r>
              <a:t>x = [X, Y, Vx, Vy]^T in R^4</a:t>
            </a:r>
          </a:p>
          <a:p>
            <a:pPr>
              <a:spcBef>
                <a:spcPts val="800"/>
              </a:spcBef>
              <a:defRPr sz="1100" b="1">
                <a:solidFill>
                  <a:srgbClr val="F0F5FA"/>
                </a:solidFill>
              </a:defRPr>
            </a:pPr>
            <a:r>
              <a:t>Mô hình chuyển trạng thái:</a:t>
            </a:r>
          </a:p>
          <a:p>
            <a:pPr>
              <a:defRPr sz="1000">
                <a:solidFill>
                  <a:srgbClr val="00E682"/>
                </a:solidFill>
              </a:defRPr>
            </a:pPr>
            <a:r>
              <a:t>x_{k|k-1} = F * x_{k-1},   P_{k|k-1} = F * P * F^T + Q</a:t>
            </a:r>
          </a:p>
          <a:p>
            <a:pPr>
              <a:spcBef>
                <a:spcPts val="800"/>
              </a:spcBef>
              <a:defRPr sz="1100" b="1">
                <a:solidFill>
                  <a:srgbClr val="F0F5FA"/>
                </a:solidFill>
              </a:defRPr>
            </a:pPr>
            <a:r>
              <a:t>Nhiễu đo thích ứng khoảng cách R(X):</a:t>
            </a:r>
          </a:p>
          <a:p>
            <a:pPr>
              <a:defRPr sz="1000">
                <a:solidFill>
                  <a:srgbClr val="00E682"/>
                </a:solidFill>
              </a:defRPr>
            </a:pPr>
            <a:r>
              <a:t>R(X) = R_base * max(1.0, (X / 10)^2)</a:t>
            </a:r>
            <a:br/>
            <a:r>
              <a:t>Do quang học Pinhole dX ~ X^2 dv -&gt; vật thể càng xa thì độ bất định càng lớn.</a:t>
            </a:r>
          </a:p>
          <a:p>
            <a:pPr>
              <a:spcBef>
                <a:spcPts val="800"/>
              </a:spcBef>
              <a:defRPr sz="1100" b="1">
                <a:solidFill>
                  <a:srgbClr val="F0F5FA"/>
                </a:solidFill>
              </a:defRPr>
            </a:pPr>
            <a:r>
              <a:t>Bước cập nhật tối ưu:</a:t>
            </a:r>
          </a:p>
          <a:p>
            <a:pPr>
              <a:defRPr sz="1000">
                <a:solidFill>
                  <a:srgbClr val="00E682"/>
                </a:solidFill>
              </a:defRPr>
            </a:pPr>
            <a:r>
              <a:t>Innovation y = z - Hx,   Kalman Gain K = P H^T S^-1</a:t>
            </a:r>
            <a:br/>
            <a:r>
              <a:t>x = x + Ky,   P = (I - KH)P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6202C"/>
          </a:solidFill>
          <a:ln>
            <a:solidFill>
              <a:srgbClr val="2D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9628"/>
                </a:solidFill>
              </a:defRPr>
            </a:pPr>
            <a:r>
              <a:t>⭕ VÒNG ELIP BẤT ĐỊNH &amp; XỬ LÝ CHE KHUẤT</a:t>
            </a:r>
          </a:p>
          <a:p>
            <a:pPr>
              <a:spcBef>
                <a:spcPts val="800"/>
              </a:spcBef>
              <a:defRPr sz="1100" b="1">
                <a:solidFill>
                  <a:srgbClr val="F0F5FA"/>
                </a:solidFill>
              </a:defRPr>
            </a:pPr>
            <a:r>
              <a:t>Trích xuất trị riêng (Eigenvalues):</a:t>
            </a:r>
          </a:p>
          <a:p>
            <a:pPr>
              <a:defRPr sz="1000">
                <a:solidFill>
                  <a:srgbClr val="00C8FF"/>
                </a:solidFill>
              </a:defRPr>
            </a:pPr>
            <a:r>
              <a:t>Phân rã ma trận vị trí 2x2 P_xy: eigvals lambda_1 &gt;= lambda_2, eigvecs v_1, v_2.</a:t>
            </a:r>
          </a:p>
          <a:p>
            <a:pPr>
              <a:spcBef>
                <a:spcPts val="800"/>
              </a:spcBef>
              <a:defRPr sz="1100" b="1">
                <a:solidFill>
                  <a:srgbClr val="F0F5FA"/>
                </a:solidFill>
              </a:defRPr>
            </a:pPr>
            <a:r>
              <a:t>Ngưỡng Chi-Square 95%:</a:t>
            </a:r>
          </a:p>
          <a:p>
            <a:pPr>
              <a:defRPr sz="1000">
                <a:solidFill>
                  <a:srgbClr val="00C8FF"/>
                </a:solidFill>
              </a:defRPr>
            </a:pPr>
            <a:r>
              <a:t>chi^2(2) = 5.991</a:t>
            </a:r>
            <a:br/>
            <a:r>
              <a:t>Bán trục lớn: a = sqrt(5.991 * lambda_1)</a:t>
            </a:r>
            <a:br/>
            <a:r>
              <a:t>Bán trục nhỏ: b = sqrt(5.991 * lambda_2)</a:t>
            </a:r>
          </a:p>
          <a:p>
            <a:pPr>
              <a:spcBef>
                <a:spcPts val="800"/>
              </a:spcBef>
              <a:defRPr sz="1100" b="1">
                <a:solidFill>
                  <a:srgbClr val="F0F5FA"/>
                </a:solidFill>
              </a:defRPr>
            </a:pPr>
            <a:r>
              <a:t>Xử lý khi bị che khuất 100% (Scenario 3):</a:t>
            </a:r>
          </a:p>
          <a:p>
            <a:pPr>
              <a:defRPr sz="1000">
                <a:solidFill>
                  <a:srgbClr val="00C8FF"/>
                </a:solidFill>
              </a:defRPr>
            </a:pPr>
            <a:r>
              <a:t>Khi người đi bộ khuất sau xe tải (mất cập nhật z_k), tracker chuyển sang chế độ Kalman Predict (Dead Reckoning).</a:t>
            </a:r>
          </a:p>
          <a:p>
            <a:pPr>
              <a:spcBef>
                <a:spcPts val="800"/>
              </a:spcBef>
              <a:defRPr sz="1100" b="1">
                <a:solidFill>
                  <a:srgbClr val="F0F5FA"/>
                </a:solidFill>
              </a:defRPr>
            </a:pPr>
            <a:r>
              <a:t>Hành vi trực quan:</a:t>
            </a:r>
          </a:p>
          <a:p>
            <a:pPr>
              <a:defRPr sz="1000">
                <a:solidFill>
                  <a:srgbClr val="00C8FF"/>
                </a:solidFill>
              </a:defRPr>
            </a:pPr>
            <a:r>
              <a:t>Vòng elip tự động phình to ra để báo hiệu độ bất định tăng cao, và lập tức thu nhỏ lại khi người đi bộ bước 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C8FF"/>
                </a:solidFill>
              </a:defRPr>
            </a:pPr>
            <a:r>
              <a:t>VIN PERCEPTION HACKATHON · TRACK 4 CAPSTONE</a:t>
            </a:r>
          </a:p>
          <a:p>
            <a:pPr>
              <a:defRPr sz="2400" b="1">
                <a:solidFill>
                  <a:srgbClr val="F0F5FA"/>
                </a:solidFill>
              </a:defRPr>
            </a:pPr>
            <a:r>
              <a:t>Kiểm Chứng Kịch Bản 1 &amp; 2 (Live Demo &amp; Đo Kiểm Định Lượng)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6202C"/>
          </a:solidFill>
          <a:ln>
            <a:solidFill>
              <a:srgbClr val="2D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C8FF"/>
                </a:solidFill>
              </a:defRPr>
            </a:pPr>
            <a:r>
              <a:t>KỊCH BẢN 1: XE MÁY CẮT NGANG ĐIỂM MÙ</a:t>
            </a:r>
          </a:p>
          <a:p>
            <a:pPr>
              <a:defRPr sz="1000">
                <a:solidFill>
                  <a:srgbClr val="F0F5FA"/>
                </a:solidFill>
              </a:defRPr>
            </a:pPr>
            <a:r>
              <a:t>• Mũi tên dự báo quỹ đạo Kalman 2.0s chỉ thẳng vào làn xe buýt.</a:t>
            </a:r>
            <a:br/>
            <a:r>
              <a:t>• Tính TTC = 2.0s -&gt; Phanh Closed-Loop AEB kích hoạt, dừng an toàn.</a:t>
            </a:r>
          </a:p>
        </p:txBody>
      </p:sp>
      <p:pic>
        <p:nvPicPr>
          <p:cNvPr id="6" name="Picture 5" descr="scenario_1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26080"/>
            <a:ext cx="4846320" cy="270823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6202C"/>
          </a:solidFill>
          <a:ln>
            <a:solidFill>
              <a:srgbClr val="2D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682"/>
                </a:solidFill>
              </a:defRPr>
            </a:pPr>
            <a:r>
              <a:t>KỊCH BẢN 2: ĐƯỜNG XÓC Ổ GÀ (IMU FUSION TEST)</a:t>
            </a:r>
          </a:p>
          <a:p>
            <a:pPr>
              <a:defRPr sz="1000">
                <a:solidFill>
                  <a:srgbClr val="F0F5FA"/>
                </a:solidFill>
              </a:defRPr>
            </a:pPr>
            <a:r>
              <a:t>• Bấm phím [P] tạo cú xóc +5.2 deg: Chấm Đỏ (Raw) nhảy loạn xạ 3.5m.</a:t>
            </a:r>
            <a:br/>
            <a:r>
              <a:t>• Chấm Xanh (IMU+Kalman) bám chặt Ground Truth -&gt; Giảm 80% RMSE!</a:t>
            </a:r>
          </a:p>
        </p:txBody>
      </p:sp>
      <p:pic>
        <p:nvPicPr>
          <p:cNvPr id="9" name="Picture 8" descr="scenario_2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926080"/>
            <a:ext cx="4846320" cy="27082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C8FF"/>
                </a:solidFill>
              </a:defRPr>
            </a:pPr>
            <a:r>
              <a:t>VIN PERCEPTION HACKATHON · TRACK 4 CAPSTONE</a:t>
            </a:r>
          </a:p>
          <a:p>
            <a:pPr>
              <a:defRPr sz="2400" b="1">
                <a:solidFill>
                  <a:srgbClr val="F0F5FA"/>
                </a:solidFill>
              </a:defRPr>
            </a:pPr>
            <a:r>
              <a:t>Kiểm Chứng Kịch Bản 3 &amp; Ca Lỗi Chủ Đích 4 (Failure Mode Analysis)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6202C"/>
          </a:solidFill>
          <a:ln>
            <a:solidFill>
              <a:srgbClr val="2D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9628"/>
                </a:solidFill>
              </a:defRPr>
            </a:pPr>
            <a:r>
              <a:t>KỊCH BẢN 3: CHE KHUẤT 100% SAU XE TẢI</a:t>
            </a:r>
          </a:p>
          <a:p>
            <a:pPr>
              <a:defRPr sz="1000">
                <a:solidFill>
                  <a:srgbClr val="F0F5FA"/>
                </a:solidFill>
              </a:defRPr>
            </a:pPr>
            <a:r>
              <a:t>• Người đi bộ bị xe tải che khuất -&gt; Tracker kích hoạt Kalman Predict.</a:t>
            </a:r>
            <a:br/>
            <a:r>
              <a:t>• Vòng Elip 95% phình to báo bất định và tự co nhỏ khi xuất hiện trở lại.</a:t>
            </a:r>
          </a:p>
        </p:txBody>
      </p:sp>
      <p:pic>
        <p:nvPicPr>
          <p:cNvPr id="6" name="Picture 5" descr="scenario_3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26080"/>
            <a:ext cx="4846320" cy="270823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6202C"/>
          </a:solidFill>
          <a:ln>
            <a:solidFill>
              <a:srgbClr val="2D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4B4B"/>
                </a:solidFill>
              </a:defRPr>
            </a:pPr>
            <a:r>
              <a:t>KỊCH BẢN 4: CA LỖI CHỦ ĐÍCH (RÀO CHẮN CHE CHÂN)</a:t>
            </a:r>
          </a:p>
          <a:p>
            <a:pPr>
              <a:defRPr sz="1000">
                <a:solidFill>
                  <a:srgbClr val="F0F5FA"/>
                </a:solidFill>
              </a:defRPr>
            </a:pPr>
            <a:r>
              <a:t>• Rào chắn 0.78m che chân -&gt; Bbox ở ngang hông (Z != 0).</a:t>
            </a:r>
            <a:br/>
            <a:r>
              <a:t>• Homography phóng tia xuyên hông: Thật 10.6m -&gt; Đo 18.4m (Sai lệch +7.8m)!</a:t>
            </a:r>
          </a:p>
        </p:txBody>
      </p:sp>
      <p:pic>
        <p:nvPicPr>
          <p:cNvPr id="9" name="Picture 8" descr="scenario_4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926080"/>
            <a:ext cx="4846320" cy="27082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C8FF"/>
                </a:solidFill>
              </a:defRPr>
            </a:pPr>
            <a:r>
              <a:t>VIN PERCEPTION HACKATHON · TRACK 4 CAPSTONE</a:t>
            </a:r>
          </a:p>
          <a:p>
            <a:pPr>
              <a:defRPr sz="2400" b="1">
                <a:solidFill>
                  <a:srgbClr val="F0F5FA"/>
                </a:solidFill>
              </a:defRPr>
            </a:pPr>
            <a:r>
              <a:t>Bằng Chứng Thực Nghiệm Định Lượng (Verifiable Evidence &amp; Metrics)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2286000"/>
          </a:xfrm>
          <a:prstGeom prst="roundRect">
            <a:avLst/>
          </a:prstGeom>
          <a:solidFill>
            <a:srgbClr val="16202C"/>
          </a:solidFill>
          <a:ln>
            <a:solidFill>
              <a:srgbClr val="2D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1A0AF"/>
                </a:solidFill>
              </a:defRPr>
            </a:pPr>
            <a:r>
              <a:t>GIẢM SAI SỐ RMSE</a:t>
            </a:r>
          </a:p>
          <a:p>
            <a:pPr>
              <a:spcBef>
                <a:spcPts val="400"/>
              </a:spcBef>
              <a:defRPr sz="3000" b="1">
                <a:solidFill>
                  <a:srgbClr val="00E682"/>
                </a:solidFill>
              </a:defRPr>
            </a:pPr>
            <a:r>
              <a:t>-80.1%</a:t>
            </a:r>
          </a:p>
          <a:p>
            <a:pPr>
              <a:spcBef>
                <a:spcPts val="600"/>
              </a:spcBef>
              <a:defRPr sz="1000">
                <a:solidFill>
                  <a:srgbClr val="F0F5FA"/>
                </a:solidFill>
              </a:defRPr>
            </a:pPr>
            <a:r>
              <a:t>Trên đường xóc (Kịch bản 2), IMU + Kalman giảm RMSE từ 1.41m xuống 0.28m.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63040"/>
            <a:ext cx="2560320" cy="2286000"/>
          </a:xfrm>
          <a:prstGeom prst="roundRect">
            <a:avLst/>
          </a:prstGeom>
          <a:solidFill>
            <a:srgbClr val="16202C"/>
          </a:solidFill>
          <a:ln>
            <a:solidFill>
              <a:srgbClr val="2D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600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1A0AF"/>
                </a:solidFill>
              </a:defRPr>
            </a:pPr>
            <a:r>
              <a:t>TỐC ĐỘ XỬ LÝ THỰC</a:t>
            </a:r>
          </a:p>
          <a:p>
            <a:pPr>
              <a:spcBef>
                <a:spcPts val="400"/>
              </a:spcBef>
              <a:defRPr sz="3000" b="1">
                <a:solidFill>
                  <a:srgbClr val="00C8FF"/>
                </a:solidFill>
              </a:defRPr>
            </a:pPr>
            <a:r>
              <a:t>60 FPS</a:t>
            </a:r>
          </a:p>
          <a:p>
            <a:pPr>
              <a:spcBef>
                <a:spcPts val="600"/>
              </a:spcBef>
              <a:defRPr sz="1000">
                <a:solidFill>
                  <a:srgbClr val="F0F5FA"/>
                </a:solidFill>
              </a:defRPr>
            </a:pPr>
            <a:r>
              <a:t>Chạy 100% trên CPU máy tính cá nhân (NumPy + OpenCV), độ trễ cực thấp &lt;2ms.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2560320" cy="2286000"/>
          </a:xfrm>
          <a:prstGeom prst="roundRect">
            <a:avLst/>
          </a:prstGeom>
          <a:solidFill>
            <a:srgbClr val="16202C"/>
          </a:solidFill>
          <a:ln>
            <a:solidFill>
              <a:srgbClr val="2D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600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1A0AF"/>
                </a:solidFill>
              </a:defRPr>
            </a:pPr>
            <a:r>
              <a:t>CẢNH BÁO SỚM TTC</a:t>
            </a:r>
          </a:p>
          <a:p>
            <a:pPr>
              <a:spcBef>
                <a:spcPts val="400"/>
              </a:spcBef>
              <a:defRPr sz="3000" b="1">
                <a:solidFill>
                  <a:srgbClr val="FF9628"/>
                </a:solidFill>
              </a:defRPr>
            </a:pPr>
            <a:r>
              <a:t>1.8 Giây</a:t>
            </a:r>
          </a:p>
          <a:p>
            <a:pPr>
              <a:spcBef>
                <a:spcPts val="600"/>
              </a:spcBef>
              <a:defRPr sz="1000">
                <a:solidFill>
                  <a:srgbClr val="F0F5FA"/>
                </a:solidFill>
              </a:defRPr>
            </a:pPr>
            <a:r>
              <a:t>Phát hiện nguy cơ và phanh khẩn cấp trước 1.8s, dừng xe cách vật cản an toàn &gt;2m.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463040"/>
            <a:ext cx="2560320" cy="2286000"/>
          </a:xfrm>
          <a:prstGeom prst="roundRect">
            <a:avLst/>
          </a:prstGeom>
          <a:solidFill>
            <a:srgbClr val="16202C"/>
          </a:solidFill>
          <a:ln>
            <a:solidFill>
              <a:srgbClr val="2D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600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1A0AF"/>
                </a:solidFill>
              </a:defRPr>
            </a:pPr>
            <a:r>
              <a:t>REPLAY DATA LOG</a:t>
            </a:r>
          </a:p>
          <a:p>
            <a:pPr>
              <a:spcBef>
                <a:spcPts val="400"/>
              </a:spcBef>
              <a:defRPr sz="3000" b="1">
                <a:solidFill>
                  <a:srgbClr val="00C8FF"/>
                </a:solidFill>
              </a:defRPr>
            </a:pPr>
            <a:r>
              <a:t>12 Cột</a:t>
            </a:r>
          </a:p>
          <a:p>
            <a:pPr>
              <a:spcBef>
                <a:spcPts val="600"/>
              </a:spcBef>
              <a:defRPr sz="1000">
                <a:solidFill>
                  <a:srgbClr val="F0F5FA"/>
                </a:solidFill>
              </a:defRPr>
            </a:pPr>
            <a:r>
              <a:t>Ghi log CSV chuẩn hóa (logs/vinbus_replay_log.csv) phục vụ Data Engine của VinFast.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10698480" cy="2194560"/>
          </a:xfrm>
          <a:prstGeom prst="roundRect">
            <a:avLst/>
          </a:prstGeom>
          <a:solidFill>
            <a:srgbClr val="16202C"/>
          </a:solidFill>
          <a:ln>
            <a:solidFill>
              <a:srgbClr val="2D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C8FF"/>
                </a:solidFill>
              </a:defRPr>
            </a:pPr>
            <a:r>
              <a:t>📊 BẢNG TỔNG HỢP KẾT QUẢ ĐO KIỂM 4 KỊCH BẢN (CHẠY QUA 'python main.py --benchmark')</a:t>
            </a:r>
          </a:p>
          <a:p>
            <a:pPr>
              <a:spcBef>
                <a:spcPts val="400"/>
              </a:spcBef>
              <a:defRPr sz="1000">
                <a:solidFill>
                  <a:srgbClr val="F0F5FA"/>
                </a:solidFill>
              </a:defRPr>
            </a:pPr>
            <a:r>
              <a:t>• Kịch bản 1 (Cắt ngang điểm mù): Raw RMSE = 0.35m | IMU+Kalman RMSE = 0.12m | TTC kích hoạt AEB = 2.0s | Dừng xe an toàn.</a:t>
            </a:r>
          </a:p>
          <a:p>
            <a:pPr>
              <a:spcBef>
                <a:spcPts val="400"/>
              </a:spcBef>
              <a:defRPr sz="1000">
                <a:solidFill>
                  <a:srgbClr val="F0F5FA"/>
                </a:solidFill>
              </a:defRPr>
            </a:pPr>
            <a:r>
              <a:t>• Kịch bản 2 (Đường xóc ổ gà +5.2°): Raw RMSE = 1.41m | IMU+Kalman RMSE = 0.28m | Giảm 80.1% sai số | Triệt tiêu phanh giật ảo.</a:t>
            </a:r>
          </a:p>
          <a:p>
            <a:pPr>
              <a:spcBef>
                <a:spcPts val="400"/>
              </a:spcBef>
              <a:defRPr sz="1000">
                <a:solidFill>
                  <a:srgbClr val="F0F5FA"/>
                </a:solidFill>
              </a:defRPr>
            </a:pPr>
            <a:r>
              <a:t>• Kịch bản 3 (Xe tải che khuất 100%): Duy trì track Dead Reckoning trong 1.5s | Elip phình to báo bất định | Bắt lại mượt mà.</a:t>
            </a:r>
          </a:p>
          <a:p>
            <a:pPr>
              <a:spcBef>
                <a:spcPts val="400"/>
              </a:spcBef>
              <a:defRPr sz="1000">
                <a:solidFill>
                  <a:srgbClr val="F0F5FA"/>
                </a:solidFill>
              </a:defRPr>
            </a:pPr>
            <a:r>
              <a:t>• Kịch bản 4 (Ca lỗi rào chắn 0.78m): Khoảng cách thực 10.6m -&gt; Đo 18.4m (+7.8m Overestimation) | Phân tích toán học thuyết phục.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C8FF"/>
                </a:solidFill>
              </a:defRPr>
            </a:pPr>
            <a:r>
              <a:t>VIN PERCEPTION HACKATHON · TRACK 4 CAPSTONE</a:t>
            </a:r>
          </a:p>
          <a:p>
            <a:pPr>
              <a:defRPr sz="2400" b="1">
                <a:solidFill>
                  <a:srgbClr val="F0F5FA"/>
                </a:solidFill>
              </a:defRPr>
            </a:pPr>
            <a:r>
              <a:t>Tác Động Kinh Doanh &amp; Khả Năng Mở Rộng Cho VinFast / VinBus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4754880"/>
          </a:xfrm>
          <a:prstGeom prst="roundRect">
            <a:avLst/>
          </a:prstGeom>
          <a:solidFill>
            <a:srgbClr val="16202C"/>
          </a:solidFill>
          <a:ln>
            <a:solidFill>
              <a:srgbClr val="2D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682"/>
                </a:solidFill>
              </a:defRPr>
            </a:pPr>
            <a:r>
              <a:t>💰 GIÁ TRỊ KINH TẾ TRỰC TIẾP</a:t>
            </a:r>
          </a:p>
          <a:p>
            <a:pPr>
              <a:spcBef>
                <a:spcPts val="1400"/>
              </a:spcBef>
              <a:defRPr sz="1100">
                <a:solidFill>
                  <a:srgbClr val="F0F5FA"/>
                </a:solidFill>
              </a:defRPr>
            </a:pPr>
            <a:r>
              <a:t>• Tiết kiệm $1,500 - $3,000 / xe chi phí phần cứng cụm cảm biến LiDAR đắt tiền.</a:t>
            </a:r>
          </a:p>
          <a:p>
            <a:pPr>
              <a:spcBef>
                <a:spcPts val="1400"/>
              </a:spcBef>
              <a:defRPr sz="1100">
                <a:solidFill>
                  <a:srgbClr val="F0F5FA"/>
                </a:solidFill>
              </a:defRPr>
            </a:pPr>
            <a:r>
              <a:t>• Tổng tiết kiệm $450,000 - $900,000 cho toàn bộ đội xe 300 chiếc VinBus.</a:t>
            </a:r>
          </a:p>
          <a:p>
            <a:pPr>
              <a:spcBef>
                <a:spcPts val="1400"/>
              </a:spcBef>
              <a:defRPr sz="1100">
                <a:solidFill>
                  <a:srgbClr val="F0F5FA"/>
                </a:solidFill>
              </a:defRPr>
            </a:pPr>
            <a:r>
              <a:t>• Tận dụng tối đa camera ADAS và cảm biến IMU đã có sẵn trên dây chuyền sản xuất xe VinFast.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74720" cy="4754880"/>
          </a:xfrm>
          <a:prstGeom prst="roundRect">
            <a:avLst/>
          </a:prstGeom>
          <a:solidFill>
            <a:srgbClr val="16202C"/>
          </a:solidFill>
          <a:ln>
            <a:solidFill>
              <a:srgbClr val="2D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64592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C8FF"/>
                </a:solidFill>
              </a:defRPr>
            </a:pPr>
            <a:r>
              <a:t>🛡️ AN TOÀN GIAO THÔNG ĐÔ THỊ</a:t>
            </a:r>
          </a:p>
          <a:p>
            <a:pPr>
              <a:spcBef>
                <a:spcPts val="1400"/>
              </a:spcBef>
              <a:defRPr sz="1100">
                <a:solidFill>
                  <a:srgbClr val="F0F5FA"/>
                </a:solidFill>
              </a:defRPr>
            </a:pPr>
            <a:r>
              <a:t>• Cảnh báo trước 1.8s - 2.1s đối với các phương tiện xe máy tạt đầu tại giao lộ.</a:t>
            </a:r>
          </a:p>
          <a:p>
            <a:pPr>
              <a:spcBef>
                <a:spcPts val="1400"/>
              </a:spcBef>
              <a:defRPr sz="1100">
                <a:solidFill>
                  <a:srgbClr val="F0F5FA"/>
                </a:solidFill>
              </a:defRPr>
            </a:pPr>
            <a:r>
              <a:t>• Triệt tiêu hiện tượng phanh giật ảo (phantom braking) khi xe đi qua đường gồ ghề, bảo vệ hành khách.</a:t>
            </a:r>
          </a:p>
          <a:p>
            <a:pPr>
              <a:spcBef>
                <a:spcPts val="1400"/>
              </a:spcBef>
              <a:defRPr sz="1100">
                <a:solidFill>
                  <a:srgbClr val="F0F5FA"/>
                </a:solidFill>
              </a:defRPr>
            </a:pPr>
            <a:r>
              <a:t>• Giảm thiểu tỷ lệ va chạm điểm mù của xe buýt điện đô thị xuống mức tối thiểu.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463040"/>
            <a:ext cx="3474720" cy="4754880"/>
          </a:xfrm>
          <a:prstGeom prst="roundRect">
            <a:avLst/>
          </a:prstGeom>
          <a:solidFill>
            <a:srgbClr val="16202C"/>
          </a:solidFill>
          <a:ln>
            <a:solidFill>
              <a:srgbClr val="2D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164592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9628"/>
                </a:solidFill>
              </a:defRPr>
            </a:pPr>
            <a:r>
              <a:t>🚀 KHẢ NĂNG MỞ RỘNG CÔNG NGHỆ</a:t>
            </a:r>
          </a:p>
          <a:p>
            <a:pPr>
              <a:spcBef>
                <a:spcPts val="1400"/>
              </a:spcBef>
              <a:defRPr sz="1100">
                <a:solidFill>
                  <a:srgbClr val="F0F5FA"/>
                </a:solidFill>
              </a:defRPr>
            </a:pPr>
            <a:r>
              <a:t>• Kiến trúc module hóa bằng Python/C++, giao tiếp dễ dàng qua mạng CAN bus hoặc ROS2.</a:t>
            </a:r>
          </a:p>
          <a:p>
            <a:pPr>
              <a:spcBef>
                <a:spcPts val="1400"/>
              </a:spcBef>
              <a:defRPr sz="1100">
                <a:solidFill>
                  <a:srgbClr val="F0F5FA"/>
                </a:solidFill>
              </a:defRPr>
            </a:pPr>
            <a:r>
              <a:t>• Hệ thống Replay CSV Log cung cấp dữ liệu huấn luyện quý giá cho Data Engine của VinFast ADAS.</a:t>
            </a:r>
          </a:p>
          <a:p>
            <a:pPr>
              <a:spcBef>
                <a:spcPts val="1400"/>
              </a:spcBef>
              <a:defRPr sz="1100">
                <a:solidFill>
                  <a:srgbClr val="F0F5FA"/>
                </a:solidFill>
              </a:defRPr>
            </a:pPr>
            <a:r>
              <a:t>• Dễ dàng mở rộng kết hợp cảm biến Radar sóng milimet 77GHz để giải quyết triệt để Ca lỗi 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0" y="1097280"/>
            <a:ext cx="8869680" cy="4663440"/>
          </a:xfrm>
          <a:prstGeom prst="roundRect">
            <a:avLst/>
          </a:prstGeom>
          <a:solidFill>
            <a:srgbClr val="16202C"/>
          </a:solidFill>
          <a:ln>
            <a:solidFill>
              <a:srgbClr val="2D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463040"/>
            <a:ext cx="8138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FF"/>
                </a:solidFill>
              </a:defRPr>
            </a:pPr>
            <a:r>
              <a:t>VIN PERCEPTION HACKATHON · TRACK 4 CAPSTONE</a:t>
            </a:r>
          </a:p>
          <a:p>
            <a:pPr algn="ctr">
              <a:spcBef>
                <a:spcPts val="1400"/>
              </a:spcBef>
              <a:defRPr sz="2800" b="1">
                <a:solidFill>
                  <a:srgbClr val="F0F5FA"/>
                </a:solidFill>
              </a:defRPr>
            </a:pPr>
            <a:r>
              <a:t>CẢM ƠN HỘI ĐỒNG GIÁM KHẢO ĐÃ LẮNG NGHE!</a:t>
            </a:r>
          </a:p>
          <a:p>
            <a:pPr algn="ctr">
              <a:spcBef>
                <a:spcPts val="1000"/>
              </a:spcBef>
              <a:defRPr sz="1600">
                <a:solidFill>
                  <a:srgbClr val="00E682"/>
                </a:solidFill>
              </a:defRPr>
            </a:pPr>
            <a:r>
              <a:t>Hệ Thống Sẵn Sàng Live Demo &amp; Trả Lời Câu Hỏi Phản Biện (Q&amp;A)</a:t>
            </a:r>
          </a:p>
          <a:p>
            <a:pPr>
              <a:spcBef>
                <a:spcPts val="1000"/>
              </a:spcBef>
              <a:defRPr sz="1200">
                <a:solidFill>
                  <a:srgbClr val="F0F5FA"/>
                </a:solidFill>
              </a:defRPr>
            </a:pPr>
            <a:r>
              <a:t>✔ Hoàn thành trọn vẹn 100% yêu cầu Track 4: Detection -&gt; BEV -&gt; Fusion -&gt; Kalman -&gt; AEB.</a:t>
            </a:r>
          </a:p>
          <a:p>
            <a:pPr>
              <a:spcBef>
                <a:spcPts val="1000"/>
              </a:spcBef>
              <a:defRPr sz="1200">
                <a:solidFill>
                  <a:srgbClr val="F0F5FA"/>
                </a:solidFill>
              </a:defRPr>
            </a:pPr>
            <a:r>
              <a:t>✔ Mô phỏng vật lý 60 FPS khép kín mượt mà trên 1 máy tính cá nhân duy nhất.</a:t>
            </a:r>
          </a:p>
          <a:p>
            <a:pPr>
              <a:spcBef>
                <a:spcPts val="1000"/>
              </a:spcBef>
              <a:defRPr sz="1200">
                <a:solidFill>
                  <a:srgbClr val="F0F5FA"/>
                </a:solidFill>
              </a:defRPr>
            </a:pPr>
            <a:r>
              <a:t>✔ Bằng chứng định lượng rõ ràng: Giảm 80% RMSE trên đường xóc và chứng minh ca lỗi hình học.</a:t>
            </a:r>
          </a:p>
          <a:p>
            <a:pPr>
              <a:spcBef>
                <a:spcPts val="1000"/>
              </a:spcBef>
              <a:defRPr sz="1200">
                <a:solidFill>
                  <a:srgbClr val="F0F5FA"/>
                </a:solidFill>
              </a:defRPr>
            </a:pPr>
            <a:r>
              <a:t>✔ Mã nguồn mở đầy đủ trên GitHub: https://github.com/ngminhquyen2710-sketch/hackathon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